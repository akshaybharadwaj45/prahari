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980944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1859C"/>
                </a:solidFill>
                <a:latin typeface="Arial"/>
              </a:defRPr>
            </a:pPr>
            <a:r>
              <a:t>G-1400 | PRAHARI: Autonomous Spacecraft Conjunction Assessment &amp; High-Recall Collision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767328"/>
            <a:ext cx="3962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1859C"/>
                </a:solidFill>
                <a:latin typeface="Arial"/>
              </a:defRPr>
            </a:pPr>
            <a:r>
              <a:t>Date: 25-09-2026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9968" y="4379976"/>
            <a:ext cx="481888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 u="sng">
                <a:solidFill>
                  <a:srgbClr val="000000"/>
                </a:solidFill>
                <a:latin typeface="Arial"/>
              </a:defRPr>
            </a:pPr>
            <a:r>
              <a:rPr dirty="0"/>
              <a:t>Team Members</a:t>
            </a:r>
          </a:p>
          <a:p>
            <a:pPr>
              <a:spcBef>
                <a:spcPts val="2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1.     </a:t>
            </a:r>
            <a:r>
              <a:rPr dirty="0"/>
              <a:t>-24BD1A052K</a:t>
            </a:r>
          </a:p>
          <a:p>
            <a:pPr>
              <a:spcBef>
                <a:spcPts val="2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rPr dirty="0"/>
              <a:t>2.  M</a:t>
            </a:r>
            <a:r>
              <a:rPr lang="en-IN" dirty="0"/>
              <a:t>. Lakshmi </a:t>
            </a:r>
            <a:r>
              <a:rPr lang="en-IN" dirty="0" err="1"/>
              <a:t>Srivani</a:t>
            </a:r>
            <a:r>
              <a:rPr lang="en-IN" dirty="0"/>
              <a:t>  </a:t>
            </a:r>
            <a:r>
              <a:rPr dirty="0"/>
              <a:t>    - 24BD1A0533</a:t>
            </a:r>
          </a:p>
          <a:p>
            <a:pPr>
              <a:spcBef>
                <a:spcPts val="2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rPr dirty="0"/>
              <a:t>3.  </a:t>
            </a:r>
            <a:r>
              <a:rPr lang="en-IN" dirty="0"/>
              <a:t>P. </a:t>
            </a:r>
            <a:r>
              <a:rPr lang="en-IN" dirty="0" err="1"/>
              <a:t>Prag</a:t>
            </a:r>
            <a:r>
              <a:rPr dirty="0" err="1"/>
              <a:t>na</a:t>
            </a:r>
            <a:r>
              <a:rPr dirty="0"/>
              <a:t>                     - 24BD1A053B</a:t>
            </a:r>
          </a:p>
          <a:p>
            <a:pPr>
              <a:spcBef>
                <a:spcPts val="2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rPr dirty="0"/>
              <a:t>4.  R. </a:t>
            </a:r>
            <a:r>
              <a:rPr dirty="0" err="1"/>
              <a:t>Lahari</a:t>
            </a:r>
            <a:r>
              <a:rPr dirty="0"/>
              <a:t>                      - 24BD1A053N</a:t>
            </a:r>
          </a:p>
          <a:p>
            <a:pPr>
              <a:spcBef>
                <a:spcPts val="2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rPr dirty="0"/>
              <a:t>5.  S. Meghana                 - 24BD1A053R</a:t>
            </a:r>
          </a:p>
        </p:txBody>
      </p:sp>
      <p:sp>
        <p:nvSpPr>
          <p:cNvPr id="6" name="Rectangle 5"/>
          <p:cNvSpPr/>
          <p:nvPr/>
        </p:nvSpPr>
        <p:spPr>
          <a:xfrm>
            <a:off x="7031736" y="4379976"/>
            <a:ext cx="4206240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 u="sng">
                <a:solidFill>
                  <a:srgbClr val="000000"/>
                </a:solidFill>
                <a:latin typeface="Times New Roman"/>
              </a:defRPr>
            </a:pPr>
            <a:r>
              <a:t>Mentors</a:t>
            </a:r>
          </a:p>
          <a:p>
            <a:pPr algn="ctr">
              <a:spcBef>
                <a:spcPts val="3600"/>
              </a:spcBef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T Rupa Devi Ma’am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24128"/>
            <a:ext cx="9601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1. Title Slide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2. Content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3. Introduction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4. Technology Used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5. Base Paper / Research Reference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6. Requirement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7. Design (System Architecture)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8. Telemetry &amp; Conjunction Data Schema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9. Class &amp; Component Architecture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10. Development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11. Project Outcome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12. Conclusion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Arial"/>
              </a:defRPr>
            </a:pPr>
            <a:r>
              <a:t>13. Thank you!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Problem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Over 36,000 tracked debris objects and constellations create thousands of close conjunctions weekly in LEO.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Missing a real collision event (False Negative) leads to permanent satellite loss and cascading Kessler syndrome.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Conventional manual screening of Conjunction Data Messages (CDMs) is slow, fatigue-prone, and unscalable.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Objective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Develop Prahari: an autonomous, high-recall spacecraft conjunction triage and decision-support system.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Predict collision probability log10(Pc) with high precision and actionable early warning across multi-pass CDMs.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Eliminate false alarm floods and provide interactive 3D WebGL orbit visualization for flight safety operators.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Solution Impact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Achieves 92.70% High-Risk Recall (165/178 dangerous collisions detected at the official -6.0 alert threshold).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Reduces false alarms by ~75% (79.71% precision, only 42 false alarms vs 85% in published literature).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Provides 3 to 5 days of actionable lead time for Collision Avoidance Maneuver (CAM) thruster burn execution.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Enables automated multi-tier triage and real-time 3D orbital encounter screening.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Technology Used: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Frontend: React 18, TypeScript, Vite &amp; Tailwind CSS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Backend: FastAPI (Python 3.11) &amp; Uvicorn ASGI Server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Machine Learning: Extreme Gradient Boosting (XGBoost) Regressor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3D Graphics: Three.js, WebGL &amp; Canvas (Orbital Encounter Scene)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Charts &amp; State: Recharts &amp; TanStack React Query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Optimization: Asymmetric Sample Weighting (w=30.0 for High-Risk Recall Focus)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Data Imputation: Pre-Computed Median Matrix (100% Zero-Crash Reliability)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Data: ESA Kelvins Spacecraft Collision Dataset &amp; Space Surveillance Network CDMs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Tools: Git, GitHub, REST APIs &amp; Windows START.bat Launcher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Base Paper :</a:t>
            </a:r>
          </a:p>
          <a:p>
            <a:pPr>
              <a:spcBef>
                <a:spcPts val="300"/>
              </a:spcBef>
              <a:defRPr sz="1650">
                <a:solidFill>
                  <a:srgbClr val="000000"/>
                </a:solidFill>
                <a:latin typeface="Arial"/>
              </a:defRPr>
            </a:pPr>
            <a:r>
              <a:t>“Machine Learning Approaches for Spacecraft Collision Avoidance Challenge”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Authors: Kalyanaraman et al. (EPJ Web of Conferences, 2026) &amp; Uriot et al. (ESA Advanced Concepts Team)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BASE PAPER / RESEARCH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0972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Paper Title:</a:t>
            </a:r>
          </a:p>
          <a:p>
            <a:pPr>
              <a:spcBef>
                <a:spcPts val="200"/>
              </a:spcBef>
              <a:defRPr sz="1750">
                <a:solidFill>
                  <a:srgbClr val="000000"/>
                </a:solidFill>
                <a:latin typeface="Arial"/>
              </a:defRPr>
            </a:pPr>
            <a:r>
              <a:t>“Machine Learning Approaches for Spacecraft Collision Avoidance Challenge”</a:t>
            </a:r>
          </a:p>
          <a:p>
            <a:pPr>
              <a:spcBef>
                <a:spcPts val="200"/>
              </a:spcBef>
              <a:defRPr sz="1650">
                <a:solidFill>
                  <a:srgbClr val="000000"/>
                </a:solidFill>
                <a:latin typeface="Arial"/>
              </a:defRPr>
            </a:pPr>
            <a:r>
              <a:t>Focus: Spacecraft Collision Risk Prediction, CDM Assessment &amp; Orbit Uncertainty</a:t>
            </a:r>
          </a:p>
          <a:p>
            <a:pPr>
              <a:spcBef>
                <a:spcPts val="200"/>
              </a:spcBef>
              <a:defRPr sz="1650">
                <a:solidFill>
                  <a:srgbClr val="000000"/>
                </a:solidFill>
                <a:latin typeface="Arial"/>
              </a:defRPr>
            </a:pPr>
            <a:r>
              <a:t>Authors: Kalyanaraman et al. (2026) &amp; Uriot et al. (ESA Advanced Concepts Team)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880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Existing approach :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Static single-snapshot CDM evaluation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Evaluated strictly at TCA (t = 0 hours)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Standard binary classification with SMOTE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Assumes equal cost between False Positives and False Negatives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Black-box feature engineering with opaque synthetic indices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880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Research Gap :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Temporal Blindness: 0-hour lead time is useless for thruster burn prep -&gt; Solved with 3-5 days lead time.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False Alarm Flooding: 85% false alarm rate (15% precision) exhausts fuel -&gt; Solved with 79.71% precision.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Class Imbalance: 178 collisions vs 1,989 safe events -&gt; Solved via 30x Asymmetric Weighting.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High Recall Focus: Prioritizing recall (92.70%) to ensure spacecraft survival.</a:t>
            </a:r>
          </a:p>
          <a:p>
            <a:pPr>
              <a:spcBef>
                <a:spcPts val="5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Native Telemetry: Ingests 100 raw CDM features with 0 synthetic bloat.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Product:</a:t>
            </a:r>
          </a:p>
          <a:p>
            <a:pPr>
              <a:spcBef>
                <a:spcPts val="200"/>
              </a:spcBef>
              <a:defRPr sz="1650">
                <a:solidFill>
                  <a:srgbClr val="000000"/>
                </a:solidFill>
                <a:latin typeface="Arial"/>
              </a:defRPr>
            </a:pPr>
            <a:r>
              <a:t>Prahari: Autonomous Spacecraft Conjunction Triage &amp; Collision Avoidance Decision-Support System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Features: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Automated Multi-Pass CDM Ingestion &amp; Telemetry Preprocessing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High-Recall XGBoost Conjunction Risk Regression (log10 Pc prediction)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Asymmetric Risk Thresholding calibrated at the official -6.0 alert boundary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Real-time Multi-Tier Action Protocol (CRITICAL, HIGH, ELEVATED, LOW bands)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100 Native Telemetry Directory (Kinematics, Covariance, Solar Weather, Tracking)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Interactive 3D WebGL Orbit &amp; Covariance Ellipsoid Encounter Visualizer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Temporal Timeline Playback Scrubber for multi-day radar update evolution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Model Lab with live threshold calibration slider and SHAP feature importance charts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Drag-and-Drop Live Telemetry Prediction Sandbox for operational passes</a:t>
            </a:r>
          </a:p>
          <a:p>
            <a:pPr>
              <a:spcBef>
                <a:spcPts val="3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Automated Collision Avoidance Maneuver (CAM) alert and report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89611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Prahari – System Design &amp; Pipeline Architecture</a:t>
            </a:r>
          </a:p>
        </p:txBody>
      </p:sp>
      <p:pic>
        <p:nvPicPr>
          <p:cNvPr id="5" name="Picture 4" descr="system_desig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962863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89611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Prahari – Telemetry &amp; Conjunction Data Schema</a:t>
            </a:r>
          </a:p>
        </p:txBody>
      </p:sp>
      <p:pic>
        <p:nvPicPr>
          <p:cNvPr id="5" name="Picture 4" descr="datab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962863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89611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Prahari – Component &amp; Class Architecture</a:t>
            </a:r>
          </a:p>
        </p:txBody>
      </p:sp>
      <p:pic>
        <p:nvPicPr>
          <p:cNvPr id="5" name="Picture 4" descr="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962863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Development Steps: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Extracted and audited 100 native telemetry parameters across 162,634 observation rows.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Engineered asymmetric sample weighting protocol (w = 30.0 for high risk) to prioritize recall.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Trained regularized XGBoost Regressor with histogram binning and pre-computed median imputation.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Evaluated performance on 2,167 completely held-out test events at the standard -6.0 threshold.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Built asynchronous FastAPI backend serving sub-50ms real-time inference and metadata endpoints.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Developed React 18 + Vite frontend with Three.js 3D WebGL orbital encounter scene and timeline scrubber.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Created interactive Model Lab with dynamic threshold slider, 100-feature directory, and SHAP charts.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Authored publication-ready academic research paper (.docx) and 16:9 presentation deck (.pptx).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Tools Used: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React, TypeScript &amp; Vite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Tailwind CSS &amp; Lucide Icons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Python 3.11, FastAPI &amp; Uvicorn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XGBoost, Scikit-learn, Pandas &amp; Joblib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Three.js &amp; WebGL Canvas Renderer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Git &amp;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Achievements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High-Risk Recall: 92.70% (165 of 178 dangerous collisions detected ahead of time).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Safety F2 Score: 89.77% (Recall weighted 2x to prioritize mission survival).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Precision: 79.71% (Only 42 false alarms across 1,989 safe events, eliminating the 85% false alarm flood).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Overall Accuracy: 97.46% (2,112 out of 2,167 events correctly classified).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100% Native Telemetry: Ingests raw CDMs directly without artificial synthetic features.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Actionable Lead Time: 3 to 5 days pre-TCA for Collision Avoidance Maneuver (CAM) execution.</a:t>
            </a:r>
          </a:p>
          <a:p>
            <a:pPr>
              <a:spcBef>
                <a:spcPts val="9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Current Challenges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Sparse ground radar coverage causes intermittent tracking gaps in higher orbital inclinations.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Solar storm geomagnetic surges temporarily inflate atmospheric drag covariance errors.</a:t>
            </a:r>
          </a:p>
          <a:p>
            <a:pPr>
              <a:spcBef>
                <a:spcPts val="9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Future Improvements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Autonomous CAM Delta-V burn calculation using Reinforcement Learning.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Live Space-Track / ESA API integration for continuous automatic ingest.</a:t>
            </a:r>
          </a:p>
          <a:p>
            <a:pPr>
              <a:spcBef>
                <a:spcPts val="25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•  Constellation multi-satellite screening to avoid secondary induced conjunctions.</a:t>
            </a:r>
          </a:p>
          <a:p>
            <a:pPr>
              <a:spcBef>
                <a:spcPts val="9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Paper:</a:t>
            </a:r>
          </a:p>
          <a:p>
            <a:pPr>
              <a:spcBef>
                <a:spcPts val="200"/>
              </a:spcBef>
              <a:defRPr sz="1500">
                <a:solidFill>
                  <a:srgbClr val="000000"/>
                </a:solidFill>
                <a:latin typeface="Arial"/>
              </a:defRPr>
            </a:pPr>
            <a:r>
              <a:t>Status: Research paper is complete and formatted for journal submission at docs/Prahari_Research_Paper.docx.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3291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Prahari transforms multi-pass raw CDM telemetry into high-recall, actionable collision warnings.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Asymmetric loss optimization successfully solves the class imbalance and catches 92.70% of collisions.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Eliminates the temporal blindness (TCA=0h) and 85% false alarm rate of published literature.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Interactive 3D Three.js mission control bridges machine learning with operational flight dynamics.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New Skills Learned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Space Situational Awareness (SSA) &amp; Astrodynamic Conjunction Assessment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Asymmetric Loss Formulation for Extreme Class Imbalance in Space Systems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High-Dimensional Telemetry Engineering on 100 Native Parameters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Full-Stack Modern Web Development (React 18, TypeScript, Vite, Tailwind CSS)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3D Orbital Graphics &amp; Covariance Ellipsoid Rendering (Three.js &amp; WebGL)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High-Performance Asynchronous Microservices (FastAPI &amp; Uvicorn)</a:t>
            </a:r>
          </a:p>
          <a:p>
            <a:pPr>
              <a:spcBef>
                <a:spcPts val="300"/>
              </a:spcBef>
              <a:defRPr sz="1550">
                <a:solidFill>
                  <a:srgbClr val="000000"/>
                </a:solidFill>
                <a:latin typeface="Arial"/>
              </a:defRPr>
            </a:pPr>
            <a:r>
              <a:t>•  Academic Research Paper Authoring &amp; Rigorous Empirical Benchmarking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92608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1325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akshay bharawaj</cp:lastModifiedBy>
  <cp:revision>2</cp:revision>
  <dcterms:created xsi:type="dcterms:W3CDTF">2013-01-27T09:14:16Z</dcterms:created>
  <dcterms:modified xsi:type="dcterms:W3CDTF">2026-09-25T06:05:33Z</dcterms:modified>
  <cp:category/>
</cp:coreProperties>
</file>