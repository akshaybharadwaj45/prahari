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445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9488"/>
                </a:solidFill>
                <a:latin typeface="Arial"/>
              </a:defRPr>
            </a:pPr>
            <a:r>
              <a:t>KESHAV MEMORIAL INSTITUTE OF TECHNOLOGY</a:t>
            </a:r>
          </a:p>
          <a:p>
            <a:pPr algn="ctr">
              <a:defRPr sz="1100" b="1">
                <a:solidFill>
                  <a:srgbClr val="475569"/>
                </a:solidFill>
                <a:latin typeface="Arial"/>
              </a:defRPr>
            </a:pPr>
            <a:r>
              <a:t>AN AUTONOMOUS INSTITUTION - ACCREDITED BY NAAC WITH 'A' GRADE</a:t>
            </a:r>
            <a:br/>
            <a:r>
              <a:t>Narayanaguda, Hyderabad.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284C7"/>
                </a:solidFill>
                <a:latin typeface="Arial"/>
              </a:defRPr>
            </a:pPr>
            <a:r>
              <a:t>G-1400 | PRAHARI: Autonomous Spacecraft Conjunction Assessment &amp; High-Recall Collision Triage</a:t>
            </a:r>
          </a:p>
          <a:p>
            <a:pPr algn="ctr">
              <a:spcBef>
                <a:spcPts val="600"/>
              </a:spcBef>
              <a:defRPr sz="1300" b="1">
                <a:solidFill>
                  <a:srgbClr val="0E7490"/>
                </a:solidFill>
                <a:latin typeface="Arial"/>
              </a:defRPr>
            </a:pPr>
            <a:r>
              <a:t>Date: 25-09-2026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840480"/>
            <a:ext cx="3931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u="sng">
                <a:solidFill>
                  <a:srgbClr val="1E293B"/>
                </a:solidFill>
                <a:latin typeface="Arial"/>
              </a:defRPr>
            </a:pPr>
            <a:r>
              <a:t>Team Members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1. Akshay Bharadwaj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2. Team Member 2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3. Team Member 3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4. Team Member 4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5. Team Member 5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840480"/>
            <a:ext cx="3931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u="sng">
                <a:solidFill>
                  <a:srgbClr val="1E293B"/>
                </a:solidFill>
                <a:latin typeface="Arial"/>
              </a:defRPr>
            </a:pPr>
            <a:r>
              <a:t>Mentors</a:t>
            </a:r>
          </a:p>
          <a:p>
            <a:pPr algn="ctr">
              <a:spcBef>
                <a:spcPts val="3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Faculty Mentor / Project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88720"/>
            <a:ext cx="91440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1. Title Slide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2. Content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3. Introduction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4. Technology Used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5. Base Paper / Research Reference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6. Requirement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7. Design (System Architecture)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8. Telemetry &amp; Feature Architecture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9. Execution Flow &amp; Class Diagram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10. Development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11. Project Outcome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12. Conclusion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13. Thank you!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  <a:latin typeface="Arial"/>
              </a:defRPr>
            </a:pPr>
            <a:r>
              <a:t>Problem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Over 36,000 tracked debris objects and mega-constellations create thousands of close orbital conjunctions weekly in Low Earth Orbit (LEO).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Missing a real collision event (False Negative) leads to permanent spacecraft destruction and runaway orbital debris cascading (Kessler syndrome).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Current manual screening of Conjunction Data Messages (CDMs) is time-consuming and vulnerable to human fatigue under high alert volumes.</a:t>
            </a:r>
          </a:p>
          <a:p>
            <a:pPr>
              <a:spcBef>
                <a:spcPts val="800"/>
              </a:spcBef>
              <a:defRPr sz="1400" b="1">
                <a:solidFill>
                  <a:srgbClr val="1E293B"/>
                </a:solidFill>
                <a:latin typeface="Arial"/>
              </a:defRPr>
            </a:pPr>
            <a:r>
              <a:t>Objective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Develop Prahari: an autonomous, high-recall spacecraft conjunction triage and decision-support system.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Ingest standard multi-pass CDMs to predict collision probability log10(Pc) with high precision and actionable early warning.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Eliminate false alarm floods and provide interactive 3D WebGL orbit visualization for flight safety operators.</a:t>
            </a:r>
          </a:p>
          <a:p>
            <a:pPr>
              <a:spcBef>
                <a:spcPts val="800"/>
              </a:spcBef>
              <a:defRPr sz="1400" b="1">
                <a:solidFill>
                  <a:srgbClr val="1E293B"/>
                </a:solidFill>
                <a:latin typeface="Arial"/>
              </a:defRPr>
            </a:pPr>
            <a:r>
              <a:t>Solution Impact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Achieves 92.70% High-Risk Recall (165/178 dangerous collisions detected at the official -6.0 alert threshold).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Reduces false alarms by ~75% (79.71% precision, only 42 false alarms vs 85% in published literature).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Provides 3 to 5 days of actionable lead time for Collision Avoidance Maneuver (CAM) thruster burn execution.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Enables automated triage and real-time 3D orbital encounter screening.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TECHNOLOGY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  <a:latin typeface="Arial"/>
              </a:defRPr>
            </a:pPr>
            <a:r>
              <a:t>Technology Used: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Frontend: React 18, TypeScript, Vite &amp; Tailwind CSS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Backend: FastAPI (Python 3.11) &amp; Uvicorn ASGI Server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Machine Learning: Extreme Gradient Boosting (XGBoost) Regressor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3D Graphics: Three.js, WebGL &amp; Canvas (Orbital Encounter Scene)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Charts &amp; State: Recharts &amp; TanStack React Query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Optimization: Asymmetric Sample Weighting (w=30.0 for High-Risk Recall Focus)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Data Imputation: Pre-Computed Median Matrix (100% Zero-Crash Reliability)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Data: ESA Kelvins Spacecraft Collision Dataset &amp; Space Surveillance Network CDMs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Tools: Git, GitHub, REST APIs &amp; Windows START.bat Launcher</a:t>
            </a:r>
          </a:p>
          <a:p>
            <a:pPr>
              <a:spcBef>
                <a:spcPts val="800"/>
              </a:spcBef>
              <a:defRPr sz="1400" b="1">
                <a:solidFill>
                  <a:srgbClr val="1E293B"/>
                </a:solidFill>
                <a:latin typeface="Arial"/>
              </a:defRPr>
            </a:pPr>
            <a:r>
              <a:t>Base Paper :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"Machine Learning Approaches for Spacecraft Collision Avoidance Challenge"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Authors: Kalyanaraman et al. (EPJ Web of Conferences, 2026) &amp; Uriot et al. (ESA ACT, 2020)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BASE PAPER / RESEARCH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972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  <a:latin typeface="Arial"/>
              </a:defRPr>
            </a:pPr>
            <a:r>
              <a:t>Paper Title:</a:t>
            </a:r>
          </a:p>
          <a:p>
            <a:pPr>
              <a:defRPr sz="1200" b="1">
                <a:solidFill>
                  <a:srgbClr val="0E7490"/>
                </a:solidFill>
                <a:latin typeface="Arial"/>
              </a:defRPr>
            </a:pPr>
            <a:r>
              <a:t>"Machine Learning Approaches for Spacecraft Collision Avoidance Challenge"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Focus: Spacecraft Collision Risk Prediction, CDM Assessment &amp; Orbit Uncertainty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Authors: Kalyanaraman et al. (2026) &amp; Uriot et al. (ESA Advanced Concepts Team)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34640"/>
            <a:ext cx="484632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Existing approach 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Static single-snapshot CDM evaluation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Evaluated strictly at TCA (t = 0 hours)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Standard binary classification with SMOTE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Assumes equal cost between False Positives and False Negatives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Black-box feature engineering with opaque synthetic indices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834640"/>
            <a:ext cx="484632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Arial"/>
              </a:defRPr>
            </a:pPr>
            <a:r>
              <a:t>Research Gap 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Temporal Blindness: 0-hour lead time is useless for thruster burn prep -&gt; Solved with 3-5 days lead time.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False Alarm Flooding: 85% false alarm rate (15% precision) exhausts fuel -&gt; Solved with 79.71% precision.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Class Imbalance: 178 collisions vs 1,989 safe events -&gt; Solved via 30x Asymmetric Weighting.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High Recall Focus: Prioritizing recall (92.70%) to ensure spacecraft survival.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Native Telemetry: Ingests 100 raw CDM features with 0 synthetic bloat.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  <a:latin typeface="Arial"/>
              </a:defRPr>
            </a:pPr>
            <a:r>
              <a:t>Product: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Prahari: Autonomous Spacecraft Conjunction Triage &amp; Collision Avoidance Decision-Support System</a:t>
            </a:r>
          </a:p>
          <a:p>
            <a:pPr>
              <a:spcBef>
                <a:spcPts val="800"/>
              </a:spcBef>
              <a:defRPr sz="1400" b="1">
                <a:solidFill>
                  <a:srgbClr val="1E293B"/>
                </a:solidFill>
                <a:latin typeface="Arial"/>
              </a:defRPr>
            </a:pPr>
            <a:r>
              <a:t>Features: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Automated Multi-Pass CDM Ingestion &amp; Telemetry Preprocessing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High-Recall XGBoost Conjunction Risk Regression (log10 Pc prediction)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Asymmetric Risk Thresholding calibrated at the official -6.0 alert boundary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Real-time Multi-Tier Action Protocol (CRITICAL, HIGH, ELEVATED, LOW bands)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100 Native Telemetry Directory (Kinematics, Covariance, Solar Weather, Tracking)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Interactive 3D WebGL Orbit &amp; Covariance Ellipsoid Encounter Visualizer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Temporal Timeline Playback Scrubber for multi-day radar update evolution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Model Lab with live threshold calibration slider and SHAP feature importance charts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Drag-and-Drop Live Telemetry Prediction Sandbox for operational passes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Automated Collision Avoidance Maneuver (CAM) alert and report generation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293B"/>
                </a:solidFill>
                <a:latin typeface="Arial"/>
              </a:defRPr>
            </a:pPr>
            <a:r>
              <a:t>Prahari - System Design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22860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1. Input Data Stream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Space Surveillance Network (SSN)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ESA Kelvins Portal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CCSDS Standard CDMs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Multi-Pass Observation Arc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Solar Weather Feeds (F10, AP)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645920"/>
            <a:ext cx="22860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A855F7"/>
                </a:solidFill>
                <a:latin typeface="Arial"/>
              </a:defRPr>
            </a:pPr>
            <a:r>
              <a:t>2. Telemetry Processing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100 Raw Feature Extractor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Kinematics (20 cols)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Covariances (36 cols)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Solar Drag (4 cols)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Tracking Residuals (40 cols)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Median Imputation Matrix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2860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Arial"/>
              </a:defRPr>
            </a:pPr>
            <a:r>
              <a:t>3. High-Recall AI Core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XGBoost Regressor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Asymmetric Loss (w=30x)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Continuous log10(Pc) Output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Threshold Filter (tau = -6.0)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92.70% High-Risk Recall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89.77% Safety F2 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645920"/>
            <a:ext cx="22860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F766E"/>
                </a:solidFill>
                <a:latin typeface="Arial"/>
              </a:defRPr>
            </a:pPr>
            <a:r>
              <a:t>4. Mission Control UI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React 18 + Vite Frontend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Three.js 3D Orbit Scene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Timeline Playback Scrubber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Model Lab Calibration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Instant CSV Predictor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 CAM Action Protocol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TELEMETRY &amp; FEATURE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293B"/>
                </a:solidFill>
                <a:latin typeface="Arial"/>
              </a:defRPr>
            </a:pPr>
            <a:r>
              <a:t>100 Native Telemetry Parameters (Zero Synthetic Bloat)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554480"/>
            <a:ext cx="48463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1. Orbital Kinematics (20 Features)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Captures 3D spatial clearance, relative closing speed, RTN vectors, Keplerian semi-major axes, eccentricities, inclinations, and Mahalanobis statistical distance.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48463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F766E"/>
                </a:solidFill>
                <a:latin typeface="Arial"/>
              </a:defRPr>
            </a:pPr>
            <a:r>
              <a:t>2. Covariance Dispersion (36 Features)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Encapsulates full 3D position and velocity 1-sigma error dispersions, 3x3 covariance matrix determinants (uncertainty volumes in m^6), and 18 RTN cross-correlation terms.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023360"/>
            <a:ext cx="48463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97706"/>
                </a:solidFill>
                <a:latin typeface="Arial"/>
              </a:defRPr>
            </a:pPr>
            <a:r>
              <a:t>3. Solar &amp; Space Weather (4 Features)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Includes daily 10.7 cm solar flux (F10), 81-day centered flux (F3M), sunspot number (SSN), and geomagnetic index (AP) driving atmospheric drag density in LEO.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023360"/>
            <a:ext cx="48463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9333EA"/>
                </a:solidFill>
                <a:latin typeface="Arial"/>
              </a:defRPr>
            </a:pPr>
            <a:r>
              <a:t>4. Tracking Observables (40 Features)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Contains radar pass counts (available vs. used), weighted RMS orbit fit residuals, radar cross section (RCS), ballistic area-to-mass ratios, and theoretical maximum risk bounds.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CLASS &amp; COMPONENT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371600"/>
            <a:ext cx="48463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FastAPI Application (main.py)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get_events(critical_only: bool)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get_event_details(event_id: str)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predict_cdm(file: UploadFile)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get_model_info(): Dict[str, Any]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health_check(): Dict[str, str]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48463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Arial"/>
              </a:defRPr>
            </a:pPr>
            <a:r>
              <a:t>PredictionService (prediction_service.py)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model: XGBRegressor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feature_cols: List[str] (100 cols)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medians: Dict[str, float]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predict_event(cdm_rows, threshold)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load_model(): bool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931920"/>
            <a:ext cx="48463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F766E"/>
                </a:solidFill>
                <a:latin typeface="Arial"/>
              </a:defRPr>
            </a:pPr>
            <a:r>
              <a:t>DatasetService (dataset_service.py)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df: DataFrame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events_cache: List[Dict]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load_dataset(): void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get_events(): List[Dict]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get_event_details(id): Dict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931920"/>
            <a:ext cx="48463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9333EA"/>
                </a:solidFill>
                <a:latin typeface="Arial"/>
              </a:defRPr>
            </a:pPr>
            <a:r>
              <a:t>Mission Control UI (React + Three.js)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EncounterScene.tsx (3D WebGL Orbit Scene)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ModelLabPage.tsx (Threshold Slider &amp; SHAP)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OverviewPage.tsx (Live CDM Dashboard)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+ PredictionPage.tsx (CSV Upload Module)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  <a:latin typeface="Arial"/>
              </a:defRPr>
            </a:pPr>
            <a:r>
              <a:t>Development Steps: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Extracted and audited 100 native telemetry parameters across 162,634 observation rows.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Engineered asymmetric sample weighting protocol (w = 30.0 for high risk) to prioritize recall.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Trained regularized XGBoost Regressor with histogram binning and pre-computed median imputation.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Evaluated performance on 2,167 completely held-out test events at the standard -6.0 threshold.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Built asynchronous FastAPI backend serving sub-50ms real-time inference and metadata endpoints.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Developed React 18 + Vite frontend with Three.js 3D WebGL orbital encounter scene and timeline scrubber.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Created interactive Model Lab with dynamic threshold slider, 100-feature directory, and SHAP charts.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Authored publication-ready academic research paper (.docx) and 16:9 presentation deck (.pptx).</a:t>
            </a:r>
          </a:p>
          <a:p>
            <a:pPr>
              <a:spcBef>
                <a:spcPts val="800"/>
              </a:spcBef>
              <a:defRPr sz="1400" b="1">
                <a:solidFill>
                  <a:srgbClr val="1E293B"/>
                </a:solidFill>
                <a:latin typeface="Arial"/>
              </a:defRPr>
            </a:pPr>
            <a:r>
              <a:t>Tools Used: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React, TypeScript &amp; Vite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Tailwind CSS &amp; Lucide Icons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Python 3.11, FastAPI &amp; Uvicorn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XGBoost, Scikit-learn, Pandas &amp; Joblib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Three.js &amp; WebGL Canvas Renderer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Git &amp; GitHub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PROJECT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  <a:latin typeface="Arial"/>
              </a:defRPr>
            </a:pPr>
            <a:r>
              <a:t>Achievements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High-Risk Recall: 92.70% (165 of 178 dangerous collisions detected ahead of time).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Safety F2 Score: 89.77% (Recall weighted 2x to prioritize mission survival).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Precision: 79.71% (Only 42 false alarms across 1,989 safe events, eliminating the 85% false alarm flood).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Overall Accuracy: 97.46% (2,112 out of 2,167 events correctly classified).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100% Native Telemetry: Ingests raw CDMs directly without artificial synthetic features.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Actionable Lead Time: 3 to 5 days pre-TCA for Collision Avoidance Maneuver (CAM) execution.</a:t>
            </a:r>
          </a:p>
          <a:p>
            <a:pPr>
              <a:spcBef>
                <a:spcPts val="800"/>
              </a:spcBef>
              <a:defRPr sz="1400" b="1">
                <a:solidFill>
                  <a:srgbClr val="1E293B"/>
                </a:solidFill>
                <a:latin typeface="Arial"/>
              </a:defRPr>
            </a:pPr>
            <a:r>
              <a:t>Current Challenges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Sparse ground radar coverage causes intermittent tracking gaps in higher orbital inclinations.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Solar storm geomagnetic surges temporarily inflate atmospheric drag covariance errors.</a:t>
            </a:r>
          </a:p>
          <a:p>
            <a:pPr>
              <a:spcBef>
                <a:spcPts val="800"/>
              </a:spcBef>
              <a:defRPr sz="1400" b="1">
                <a:solidFill>
                  <a:srgbClr val="1E293B"/>
                </a:solidFill>
                <a:latin typeface="Arial"/>
              </a:defRPr>
            </a:pPr>
            <a:r>
              <a:t>Future Improvements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Autonomous CAM Delta-V burn calculation using Reinforcement Learning.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Live Space-Track / ESA API integration for continuous automatic ingest.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Constellation multi-satellite screening to avoid secondary induced conjunctions.</a:t>
            </a:r>
          </a:p>
          <a:p>
            <a:pPr>
              <a:spcBef>
                <a:spcPts val="800"/>
              </a:spcBef>
              <a:defRPr sz="1400" b="1">
                <a:solidFill>
                  <a:srgbClr val="1E293B"/>
                </a:solidFill>
                <a:latin typeface="Arial"/>
              </a:defRPr>
            </a:pPr>
            <a:r>
              <a:t>Paper: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Status: Research paper is complete and formatted for journal submission at docs/Prahari_Research_Paper.docx.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C2626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  <a:latin typeface="Arial"/>
              </a:defRPr>
            </a:pPr>
            <a:r>
              <a:t>Key Takeaways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Prahari transforms multi-pass raw CDM telemetry into high-recall, actionable collision warnings.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Asymmetric loss optimization successfully solves the class imbalance and catches 92.70% of collisions.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Eliminates the temporal blindness (TCA=0h) and 85% false alarm rate of published literature.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Interactive 3D Three.js mission control bridges machine learning with operational flight dynamics.</a:t>
            </a:r>
          </a:p>
          <a:p>
            <a:pPr>
              <a:spcBef>
                <a:spcPts val="800"/>
              </a:spcBef>
              <a:defRPr sz="1400" b="1">
                <a:solidFill>
                  <a:srgbClr val="1E293B"/>
                </a:solidFill>
                <a:latin typeface="Arial"/>
              </a:defRPr>
            </a:pPr>
            <a:r>
              <a:t>New Skills Learned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Space Situational Awareness (SSA) &amp; Astrodynamic Conjunction Assessment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Asymmetric Loss Formulation for Extreme Class Imbalance in Space Systems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High-Dimensional Telemetry Engineering on 100 Native Parameters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Full-Stack Modern Web Development (React 18, TypeScript, Vite, Tailwind CSS)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3D Orbital Graphics &amp; Covariance Ellipsoid Rendering (Three.js &amp; WebGL)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High-Performance Asynchronous Microservices (FastAPI &amp; Uvicorn)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Arial"/>
              </a:defRPr>
            </a:pPr>
            <a:r>
              <a:t>•  Academic Research Paper Authoring &amp; Rigorous Empirical Benchmarking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5400000">
            <a:off x="10972800" y="0"/>
            <a:ext cx="1218895" cy="201168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6200000">
            <a:off x="0" y="4846320"/>
            <a:ext cx="1097280" cy="2011680"/>
          </a:xfrm>
          <a:prstGeom prst="rtTriangl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E293B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16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Questions &amp; Discussion</a:t>
            </a:r>
            <a:br/>
            <a:br/>
            <a:r>
              <a:t>PRAHARI: Autonomous Spacecraft Conjunction Triage Platform</a:t>
            </a:r>
            <a:br/>
            <a:r>
              <a:t>https://github.com/akshaybharadwaj45/prahari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